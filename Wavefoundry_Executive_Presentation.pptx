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1a2c29f5ab4ae1" /><Relationship Type="http://schemas.openxmlformats.org/officeDocument/2006/relationships/extended-properties" Target="/docProps/app.xml" Id="R765ccd577a684706" /><Relationship Type="http://schemas.openxmlformats.org/officeDocument/2006/relationships/officeDocument" Target="/ppt/presentation.xml" Id="R49c1b4fb32b84d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3c1281e3514fc6"/>
  </p:sldMasterIdLst>
  <p:notesMasterIdLst>
    <p:notesMasterId xmlns:r="http://schemas.openxmlformats.org/officeDocument/2006/relationships" r:id="R6fc4a5bc31d54165"/>
  </p:notesMasterIdLst>
  <p:sldIdLst>
    <p:sldId xmlns:r="http://schemas.openxmlformats.org/officeDocument/2006/relationships" id="256" r:id="Rcf0a6244cd474cb1"/>
    <p:sldId xmlns:r="http://schemas.openxmlformats.org/officeDocument/2006/relationships" id="257" r:id="R5bfea23b302f4976"/>
    <p:sldId xmlns:r="http://schemas.openxmlformats.org/officeDocument/2006/relationships" id="258" r:id="R92cce2e43b964aae"/>
    <p:sldId xmlns:r="http://schemas.openxmlformats.org/officeDocument/2006/relationships" id="259" r:id="R12f3e92174f9448f"/>
    <p:sldId xmlns:r="http://schemas.openxmlformats.org/officeDocument/2006/relationships" id="260" r:id="R457b2aba6d934e32"/>
    <p:sldId xmlns:r="http://schemas.openxmlformats.org/officeDocument/2006/relationships" id="261" r:id="R9da4a997775c46fd"/>
    <p:sldId xmlns:r="http://schemas.openxmlformats.org/officeDocument/2006/relationships" id="262" r:id="R3a3e095e501446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286e7061014635" /><Relationship Type="http://schemas.openxmlformats.org/officeDocument/2006/relationships/slideMaster" Target="/ppt/slideMasters/slideMaster1.xml" Id="Rd53c1281e3514fc6" /><Relationship Type="http://schemas.openxmlformats.org/officeDocument/2006/relationships/notesMaster" Target="/ppt/notesMasters/notesMaster1.xml" Id="R6fc4a5bc31d54165" /><Relationship Type="http://schemas.openxmlformats.org/officeDocument/2006/relationships/presProps" Target="/ppt/presProps.xml" Id="R418123c36ecd4f00" /><Relationship Type="http://schemas.openxmlformats.org/officeDocument/2006/relationships/tableStyles" Target="/ppt/tableStyles.xml" Id="Rec5a3ea3a56241bf" /><Relationship Type="http://schemas.openxmlformats.org/officeDocument/2006/relationships/slide" Target="/ppt/slides/slide1.xml" Id="Rcf0a6244cd474cb1" /><Relationship Type="http://schemas.openxmlformats.org/officeDocument/2006/relationships/slide" Target="/ppt/slides/slide2.xml" Id="R5bfea23b302f4976" /><Relationship Type="http://schemas.openxmlformats.org/officeDocument/2006/relationships/slide" Target="/ppt/slides/slide3.xml" Id="R92cce2e43b964aae" /><Relationship Type="http://schemas.openxmlformats.org/officeDocument/2006/relationships/slide" Target="/ppt/slides/slide4.xml" Id="R12f3e92174f9448f" /><Relationship Type="http://schemas.openxmlformats.org/officeDocument/2006/relationships/slide" Target="/ppt/slides/slide5.xml" Id="R457b2aba6d934e32" /><Relationship Type="http://schemas.openxmlformats.org/officeDocument/2006/relationships/slide" Target="/ppt/slides/slide6.xml" Id="R9da4a997775c46fd" /><Relationship Type="http://schemas.openxmlformats.org/officeDocument/2006/relationships/slide" Target="/ppt/slides/slide7.xml" Id="R3a3e095e501446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7c93e1458940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1211fa45de45b0" /><Relationship Type="http://schemas.openxmlformats.org/officeDocument/2006/relationships/notesMaster" Target="/ppt/notesMasters/notesMaster1.xml" Id="R31b902baa0bd40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64c10e74374501" /><Relationship Type="http://schemas.openxmlformats.org/officeDocument/2006/relationships/notesMaster" Target="/ppt/notesMasters/notesMaster1.xml" Id="Rac638386b0a44e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350ba8df574f65" /><Relationship Type="http://schemas.openxmlformats.org/officeDocument/2006/relationships/notesMaster" Target="/ppt/notesMasters/notesMaster1.xml" Id="Rd3d5eeb18bce41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0c4b39e7634073" /><Relationship Type="http://schemas.openxmlformats.org/officeDocument/2006/relationships/notesMaster" Target="/ppt/notesMasters/notesMaster1.xml" Id="Rc860f56282a44e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e8293fa7814371" /><Relationship Type="http://schemas.openxmlformats.org/officeDocument/2006/relationships/notesMaster" Target="/ppt/notesMasters/notesMaster1.xml" Id="R4c85c841a5d24e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13a39442c44f13" /><Relationship Type="http://schemas.openxmlformats.org/officeDocument/2006/relationships/notesMaster" Target="/ppt/notesMasters/notesMaster1.xml" Id="R1ad292a42e3042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896a3becd04e9d" /><Relationship Type="http://schemas.openxmlformats.org/officeDocument/2006/relationships/notesMaster" Target="/ppt/notesMasters/notesMaster1.xml" Id="Ra0318a8984d146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b2e384aacb4a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a2f6ba808c48f8" /><Relationship Type="http://schemas.openxmlformats.org/officeDocument/2006/relationships/slideLayout" Target="/ppt/slideLayouts/slideLayout1.xml" Id="R02bc33e72a7643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bc33e72a7643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d90ed2ec64db8" /><Relationship Type="http://schemas.openxmlformats.org/officeDocument/2006/relationships/notesSlide" Target="/ppt/notesSlides/notesSlide1.xml" Id="Rd319b5a4dc584a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0679ee70d4d7a" /><Relationship Type="http://schemas.openxmlformats.org/officeDocument/2006/relationships/notesSlide" Target="/ppt/notesSlides/notesSlide2.xml" Id="R820d76ea9f1d4c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689ae66674f66" /><Relationship Type="http://schemas.openxmlformats.org/officeDocument/2006/relationships/notesSlide" Target="/ppt/notesSlides/notesSlide3.xml" Id="Rfeeb2db7e55746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7282ee3f34ff6" /><Relationship Type="http://schemas.openxmlformats.org/officeDocument/2006/relationships/notesSlide" Target="/ppt/notesSlides/notesSlide4.xml" Id="R7ca34f27685648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02ad4c5c94fbf" /><Relationship Type="http://schemas.openxmlformats.org/officeDocument/2006/relationships/notesSlide" Target="/ppt/notesSlides/notesSlide5.xml" Id="R2765df9de13942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fa793daf04522" /><Relationship Type="http://schemas.openxmlformats.org/officeDocument/2006/relationships/notesSlide" Target="/ppt/notesSlides/notesSlide6.xml" Id="R1715f4ceaa8f4e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dfbac74cf4c38" /><Relationship Type="http://schemas.openxmlformats.org/officeDocument/2006/relationships/notesSlide" Target="/ppt/notesSlides/notesSlide7.xml" Id="R39bf29a112ef40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22D280-6601-4D86-9630-EC5D736C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C3A02-B7A6-4902-8041-6B39F984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428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D5366-BD88-4F57-92BA-6AEC8990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12395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24E3A-247A-40AE-AAD3-E90BE9DD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0020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CFBF9-E3DD-42DA-A0C2-F1FCB4CE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6764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D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F3F19-0998-418A-8120-94B4DF07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124075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6AB99-04C6-401D-998E-50D4E983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22885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79477-A9A4-4B88-BACA-2EDFA71E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64795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6B33B-6C0E-4176-981B-E0B8CB61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813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D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00F86-C551-4068-9750-D13AE703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171825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48BDE-55E9-4290-83BF-3B855C21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33375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05621-FF0D-4E67-8E0F-DCC7EA8E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69570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E3584-512C-4C15-AC1A-C6B1F49C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862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D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DE679-8F82-4D68-AC4C-62EEA283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219575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7663B-819D-4B53-AB26-3E7C1E57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EF5"/>
                </a:solidFill>
              </a:defRPr>
            </a:pPr>
            <a:r>
              <a:rPr sz="1050" b="1">
                <a:solidFill>
                  <a:srgbClr val="146EF5"/>
                </a:solidFill>
              </a:rPr>
              <a:t>WAVEFOUNDRY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2F7A8-C1AF-471E-B530-5BA507C8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57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827"/>
                </a:solidFill>
              </a:defRPr>
            </a:pPr>
            <a:r>
              <a:rPr sz="4050" b="1">
                <a:solidFill>
                  <a:srgbClr val="101827"/>
                </a:solidFill>
              </a:rPr>
              <a:t>The operating framework for trustworthy AI-assisted delivery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4FC4A-3DFE-4F64-BC46-CF433295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600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74"/>
                </a:solidFill>
              </a:defRPr>
            </a:pPr>
            <a:r>
              <a:rPr sz="1650" b="0">
                <a:solidFill>
                  <a:srgbClr val="536174"/>
                </a:solidFill>
              </a:rPr>
              <a:t>A local-first operating layer that gives AI agents the context, controls, verification, continuity, and accountability needed to work at enterprise scale.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75BD7-5423-4A49-9877-E0029CFB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4267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B75BE2-6AD8-43A5-B499-9612D011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174"/>
                </a:solidFill>
              </a:defRPr>
            </a:pPr>
            <a:r>
              <a:rPr sz="1200" b="1">
                <a:solidFill>
                  <a:srgbClr val="536174"/>
                </a:solidFill>
              </a:rPr>
              <a:t>Executive perspective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9AF9A2-5B4F-4395-B152-9171FE0C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AI coding capability is not the limiting factor. The operating system around the agent is.</a:t>
            </a:r>
          </a:p>
        </p:txBody>
      </p:sp>
    </p:spTree>
    <p:extLst>
      <p:ext uri="{BB962C8B-B14F-4D97-AF65-F5344CB8AC3E}">
        <p14:creationId xmlns:p14="http://schemas.microsoft.com/office/powerpoint/2010/main" val="9527866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23FB7C-D640-41F4-9DA5-3B22ACD7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6EF5"/>
                </a:solidFill>
              </a:defRPr>
            </a:pPr>
            <a:r>
              <a:rPr sz="900" b="1">
                <a:solidFill>
                  <a:srgbClr val="146EF5"/>
                </a:solidFill>
              </a:rPr>
              <a:t>WAVEFOUNDRY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89468-9208-4424-8FD1-35FB8EBE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174"/>
                </a:solidFill>
              </a:defRPr>
            </a:pPr>
            <a:r>
              <a:rPr sz="825" b="1">
                <a:solidFill>
                  <a:srgbClr val="536174"/>
                </a:solidFill>
              </a:rPr>
              <a:t>THE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42DA9-2BB4-4476-801C-6C22BDF4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6F122-44C3-4403-94D7-FB2FAAFA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174"/>
                </a:solidFill>
              </a:defRPr>
            </a:pPr>
            <a:r>
              <a:rPr sz="825" b="1">
                <a:solidFill>
                  <a:srgbClr val="536174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53C67-6EC7-47E6-B525-E5D28F44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EF5"/>
                </a:solidFill>
              </a:defRPr>
            </a:pPr>
            <a:r>
              <a:rPr sz="975" b="1">
                <a:solidFill>
                  <a:srgbClr val="146EF5"/>
                </a:solidFill>
              </a:rPr>
              <a:t>THE ENTERPRISE GAP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A94C1-C12D-4C3A-9C8D-10FCA64F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7"/>
                </a:solidFill>
              </a:defRPr>
            </a:pPr>
            <a:r>
              <a:rPr sz="2925" b="1">
                <a:solidFill>
                  <a:srgbClr val="101827"/>
                </a:solidFill>
              </a:rPr>
              <a:t>Capable agents still fail without a reliable operating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AFA4A-16C3-4218-AD28-65C9079D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74"/>
                </a:solidFill>
              </a:defRPr>
            </a:pPr>
            <a:r>
              <a:rPr sz="1650" b="0">
                <a:solidFill>
                  <a:srgbClr val="536174"/>
                </a:solidFill>
              </a:rPr>
              <a:t>The constraint is no longer code generation. It is governing how work is understood, verified, and carried forward.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74A35-48B3-4227-8933-0BA29DDE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286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4855B-1ED3-448B-BD1E-53299DC4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EF5"/>
                </a:solidFill>
              </a:defRPr>
            </a:pPr>
            <a:r>
              <a:rPr sz="975" b="1">
                <a:solidFill>
                  <a:srgbClr val="146EF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32F81-0809-43D6-AF9A-11EA8DA0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38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Context loss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3DA63-67C1-42DA-93BC-74745AC5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The next session or agent must rediscover intent, constraints, and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950B3-13C7-41E1-A195-408DBAC6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2286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66D2A-3829-4CFC-A06C-0BCD14D1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67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EF5"/>
                </a:solidFill>
              </a:defRPr>
            </a:pPr>
            <a:r>
              <a:rPr sz="975" b="1">
                <a:solidFill>
                  <a:srgbClr val="146EF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6D01F-1E8E-4555-9DFF-32A07ACE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38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Control gaps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1AAFF-E75F-41C5-A46E-AC26D725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672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Architecture, security, and quality expectations depend on an agent remembering them.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7F6D0-A7BD-4883-ACE4-09CED6E1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38500"/>
            <a:ext cx="2286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42FD3-E8B3-4DFA-BBAB-C474B430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67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EF5"/>
                </a:solidFill>
              </a:defRPr>
            </a:pPr>
            <a:r>
              <a:rPr sz="975" b="1">
                <a:solidFill>
                  <a:srgbClr val="146EF5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F853D-4114-4A80-9170-C7995EFD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38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Evidence gaps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D6337-AE5A-4B61-8967-EFC12D02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An agent can report a review without preserving what was actually checked.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348AAA-5E30-428E-B8EF-C2A91BC4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38500"/>
            <a:ext cx="2286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578B4B-87FA-4BDB-983C-B918AF70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67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EF5"/>
                </a:solidFill>
              </a:defRPr>
            </a:pPr>
            <a:r>
              <a:rPr sz="975" b="1">
                <a:solidFill>
                  <a:srgbClr val="146EF5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061562-59DF-48CE-8D29-FEF545B5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38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Continuity gaps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98DEF-E4F1-4577-ABB0-2892A681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672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Handoffs leave unclear ownership, remaining risk, and next actions.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D26AEB-E766-45E0-8EA4-20285D5E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74"/>
                </a:solidFill>
              </a:defRPr>
            </a:pPr>
            <a:r>
              <a:rPr sz="1050" b="0">
                <a:solidFill>
                  <a:srgbClr val="536174"/>
                </a:solidFill>
              </a:rPr>
              <a:t>The consequence: adoption risk rises as work becomes more distributed, autonomous, and consequential.</a:t>
            </a:r>
          </a:p>
        </p:txBody>
      </p:sp>
    </p:spTree>
    <p:extLst>
      <p:ext uri="{BB962C8B-B14F-4D97-AF65-F5344CB8AC3E}">
        <p14:creationId xmlns:p14="http://schemas.microsoft.com/office/powerpoint/2010/main" val="9863121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420037-1638-4E29-B8E1-DBB54FD4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6EF5"/>
                </a:solidFill>
              </a:defRPr>
            </a:pPr>
            <a:r>
              <a:rPr sz="900" b="1">
                <a:solidFill>
                  <a:srgbClr val="146EF5"/>
                </a:solidFill>
              </a:rPr>
              <a:t>WAVEFOUNDRY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F30E6-8AE8-4477-9C3A-B162BA71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174"/>
                </a:solidFill>
              </a:defRPr>
            </a:pPr>
            <a:r>
              <a:rPr sz="825" b="1">
                <a:solidFill>
                  <a:srgbClr val="536174"/>
                </a:solidFill>
              </a:rPr>
              <a:t>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C515B-73B7-487F-86F3-19455EB5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414FD-1299-435E-BBC7-47BC0C33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174"/>
                </a:solidFill>
              </a:defRPr>
            </a:pPr>
            <a:r>
              <a:rPr sz="825" b="1">
                <a:solidFill>
                  <a:srgbClr val="536174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076C3-57F1-44DB-860D-E63330CF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EF5"/>
                </a:solidFill>
              </a:defRPr>
            </a:pPr>
            <a:r>
              <a:rPr sz="975" b="1">
                <a:solidFill>
                  <a:srgbClr val="146EF5"/>
                </a:solidFill>
              </a:rPr>
              <a:t>THE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D3633-1F4D-4486-85F5-5D2CBE52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7"/>
                </a:solidFill>
              </a:defRPr>
            </a:pPr>
            <a:r>
              <a:rPr sz="2925" b="1">
                <a:solidFill>
                  <a:srgbClr val="101827"/>
                </a:solidFill>
              </a:rPr>
              <a:t>Wavefoundry makes the operating layer explicit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3236E-8F7D-4420-9AAB-6A99C1D5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74"/>
                </a:solidFill>
              </a:defRPr>
            </a:pPr>
            <a:r>
              <a:rPr sz="1650" b="0">
                <a:solidFill>
                  <a:srgbClr val="536174"/>
                </a:solidFill>
              </a:rPr>
              <a:t>An agent harness is the operating layer that makes AI work reliable across time and teams.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6D511-92FA-49A8-8E66-693B119F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0050"/>
            <a:ext cx="11811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97AF6-1841-4E7E-BCA2-73F01445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210050"/>
            <a:ext cx="11715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8A4BF-C5D7-4C73-828D-B92631FC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210050"/>
            <a:ext cx="11715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9AE63-7594-4576-BE83-CAB4A61A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47925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BFA48-BAD9-47F5-AD7C-6AA08422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Repository intelligence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F2300-F381-411E-9AEA-9EC7D9F0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Semantic + full-text search, code graph, navigation, secret scanning, audit.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08FBB-BB7D-48BE-8110-9B7F1622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0"/>
            <a:ext cx="2447925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4890D-3450-49EC-B717-2DC2CB53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242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Persistent operating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F9EE2-9DD6-47C8-8C0C-86FB64B3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7195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Plans, architecture, decisions, wave records, and durable memory.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98C50-CEC8-4EB6-BD12-B78AF24D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38500"/>
            <a:ext cx="2447925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46E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F94C31-54B2-475C-A9F1-465DD644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Evidence-driven delivery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9188B5-5A9C-4DBD-806F-71258C47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7195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Readiness gates, sensors, specialist reviews, closure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7C27E2-6C71-468B-B0DD-0C8E19CD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238500"/>
            <a:ext cx="2447925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797B7F-FA63-4D82-87AE-52419540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5242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Human judgment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AA5F38-3C7E-4CE9-B1D7-AC0E7D3A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17195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Operators focus on trade-offs, risk acceptance, and decisions that matter.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F1A603-9343-4CEB-AE79-ACDBA763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74"/>
                </a:solidFill>
              </a:defRPr>
            </a:pPr>
            <a:r>
              <a:rPr sz="1050" b="0">
                <a:solidFill>
                  <a:srgbClr val="536174"/>
                </a:solidFill>
              </a:rPr>
              <a:t>The framework does not replace engineering judgment—it makes the work reaching judgment more complete and inspectable.</a:t>
            </a:r>
          </a:p>
        </p:txBody>
      </p:sp>
    </p:spTree>
    <p:extLst>
      <p:ext uri="{BB962C8B-B14F-4D97-AF65-F5344CB8AC3E}">
        <p14:creationId xmlns:p14="http://schemas.microsoft.com/office/powerpoint/2010/main" val="2722450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F22BA6-B2B2-4FC7-975D-60894A6A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6EF5"/>
                </a:solidFill>
              </a:defRPr>
            </a:pPr>
            <a:r>
              <a:rPr sz="900" b="1">
                <a:solidFill>
                  <a:srgbClr val="146EF5"/>
                </a:solidFill>
              </a:rPr>
              <a:t>WAVEFOUNDRY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987DB-6859-4853-8BDB-87D1311C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174"/>
                </a:solidFill>
              </a:defRPr>
            </a:pPr>
            <a:r>
              <a:rPr sz="825" b="1">
                <a:solidFill>
                  <a:srgbClr val="536174"/>
                </a:solidFill>
              </a:rPr>
              <a:t>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B95FD-1252-4977-B951-EF78C88D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6A46C-0FE3-4EB3-95C0-0B9A8933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174"/>
                </a:solidFill>
              </a:defRPr>
            </a:pPr>
            <a:r>
              <a:rPr sz="825" b="1">
                <a:solidFill>
                  <a:srgbClr val="536174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2F79B-DF60-47CF-81A4-570BFA15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EF5"/>
                </a:solidFill>
              </a:defRPr>
            </a:pPr>
            <a:r>
              <a:rPr sz="975" b="1">
                <a:solidFill>
                  <a:srgbClr val="146EF5"/>
                </a:solidFill>
              </a:rPr>
              <a:t>BETTER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2F464-B0F7-42F9-81F5-81606D3B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7"/>
                </a:solidFill>
              </a:defRPr>
            </a:pPr>
            <a:r>
              <a:rPr sz="2925" b="1">
                <a:solidFill>
                  <a:srgbClr val="101827"/>
                </a:solidFill>
              </a:rPr>
              <a:t>Improvement shows up in the quality of delivery—not just output volume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C6E1F-C191-4B30-98AE-8CD014A6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F4E37-92C2-4974-A2EE-7602733E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Less drift and rework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E7D40-6576-4043-89D6-C5F529FC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</a:defRPr>
            </a:pPr>
            <a:r>
              <a:rPr sz="1200" b="0">
                <a:solidFill>
                  <a:srgbClr val="536174"/>
                </a:solidFill>
              </a:rPr>
              <a:t>Scoped change documents and durable context reduce rediscovery and help keep work aligned with stated intent.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9100E-F015-43F5-9331-79DEB67F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00EDF-8AD1-4551-BF46-8CB077B3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Earlier risk discovery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3D94F-4AE2-4794-A615-8DD2EF66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</a:defRPr>
            </a:pPr>
            <a:r>
              <a:rPr sz="1200" b="0">
                <a:solidFill>
                  <a:srgbClr val="536174"/>
                </a:solidFill>
              </a:rPr>
              <a:t>Sensors and specialist review lanes surface architecture, security, QA, and performance concerns before closure.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3C26D-371B-4390-8F7D-7A2B52D0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B7ED5-45FB-40E3-9425-04A549D1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More consistent standards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F4152-A932-44A0-AAE2-8C0DD6D3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43200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</a:defRPr>
            </a:pPr>
            <a:r>
              <a:rPr sz="1200" b="0">
                <a:solidFill>
                  <a:srgbClr val="536174"/>
                </a:solidFill>
              </a:rPr>
              <a:t>Required lanes and structural gates make quality expectations repeatable across agents, sessions, and teams.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1D8CA9-0CDA-46F0-9966-0DDF1BBB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2FD00-FB47-4898-BEB2-249D86F8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Better use of expert attention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01E04-48CA-49B2-99FE-BBBE813D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90950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</a:defRPr>
            </a:pPr>
            <a:r>
              <a:rPr sz="1200" b="0">
                <a:solidFill>
                  <a:srgbClr val="536174"/>
                </a:solidFill>
              </a:rPr>
              <a:t>Leaders and senior engineers can focus on material trade-offs rather than verifying routine process completion.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B6D30E-50FE-413F-9E3B-105BB8AC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74"/>
                </a:solidFill>
              </a:defRPr>
            </a:pPr>
            <a:r>
              <a:rPr sz="1050" b="0">
                <a:solidFill>
                  <a:srgbClr val="536174"/>
                </a:solidFill>
              </a:rPr>
              <a:t>Expected benefit: higher-confidence delivery; measure impact with baseline-versus-assisted quality, rework, and cycle-time signals.</a:t>
            </a:r>
          </a:p>
        </p:txBody>
      </p:sp>
    </p:spTree>
    <p:extLst>
      <p:ext uri="{BB962C8B-B14F-4D97-AF65-F5344CB8AC3E}">
        <p14:creationId xmlns:p14="http://schemas.microsoft.com/office/powerpoint/2010/main" val="5073194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83DCBC-A563-4857-8ED2-0D826FF8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6EF5"/>
                </a:solidFill>
              </a:defRPr>
            </a:pPr>
            <a:r>
              <a:rPr sz="900" b="1">
                <a:solidFill>
                  <a:srgbClr val="146EF5"/>
                </a:solidFill>
              </a:rPr>
              <a:t>WAVEFOUNDRY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806DF-DEC5-403A-8A72-A6465A5D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174"/>
                </a:solidFill>
              </a:defRPr>
            </a:pPr>
            <a:r>
              <a:rPr sz="825" b="1">
                <a:solidFill>
                  <a:srgbClr val="536174"/>
                </a:solidFill>
              </a:rPr>
              <a:t>EFFICIENCY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6A8F9-7D3D-4C36-88E2-EA8D17AA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2B829-1AA4-4064-B6E7-AED03F43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174"/>
                </a:solidFill>
              </a:defRPr>
            </a:pPr>
            <a:r>
              <a:rPr sz="825" b="1">
                <a:solidFill>
                  <a:srgbClr val="536174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693A4-B833-44D9-94A8-8857E893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EF5"/>
                </a:solidFill>
              </a:defRPr>
            </a:pPr>
            <a:r>
              <a:rPr sz="975" b="1">
                <a:solidFill>
                  <a:srgbClr val="146EF5"/>
                </a:solidFill>
              </a:rPr>
              <a:t>MORE EFFICIENT AGENT OPERATION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82BB4-2EFD-41CA-AAF3-796104AA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7"/>
                </a:solidFill>
              </a:defRPr>
            </a:pPr>
            <a:r>
              <a:rPr sz="2925" b="1">
                <a:solidFill>
                  <a:srgbClr val="101827"/>
                </a:solidFill>
              </a:rPr>
              <a:t>Targeted retrieval replaces broad re-exploration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FE069-0306-4255-A83B-70C054A7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174"/>
                </a:solidFill>
              </a:defRPr>
            </a:pPr>
            <a:r>
              <a:rPr sz="1575" b="0">
                <a:solidFill>
                  <a:srgbClr val="536174"/>
                </a:solidFill>
              </a:rPr>
              <a:t>An agent can locate the smallest useful slice of repository knowledge before deciding or acting.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60762-A6E4-4984-AC49-DA7CB9C4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23937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60DAA-4668-4C01-BEF3-C8916ABD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EF5"/>
                </a:solidFill>
              </a:defRPr>
            </a:pPr>
            <a:r>
              <a:rPr sz="1050" b="1">
                <a:solidFill>
                  <a:srgbClr val="146EF5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11421-EC55-4BCF-A53E-9E3ADE2D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90512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</a:defRPr>
            </a:pPr>
            <a:r>
              <a:rPr sz="1425" b="1">
                <a:solidFill>
                  <a:srgbClr val="101827"/>
                </a:solidFill>
              </a:rPr>
              <a:t>Semantic 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71D98-A851-437A-B30F-5C9F8583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24175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</a:defRPr>
            </a:pPr>
            <a:r>
              <a:rPr sz="1200" b="0">
                <a:solidFill>
                  <a:srgbClr val="536174"/>
                </a:solidFill>
              </a:rPr>
              <a:t>Find relevant code, documents, plans, and decisions by meaning.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41D41-5FD4-44ED-A0BB-0EB902C7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23937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A4832-838C-4B05-91FB-1F646C74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EF5"/>
                </a:solidFill>
              </a:defRPr>
            </a:pPr>
            <a:r>
              <a:rPr sz="1050" b="1">
                <a:solidFill>
                  <a:srgbClr val="146EF5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BC6BD-3996-4DAF-B6A2-BB2BFF52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004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</a:defRPr>
            </a:pPr>
            <a:r>
              <a:rPr sz="1425" b="1">
                <a:solidFill>
                  <a:srgbClr val="101827"/>
                </a:solidFill>
              </a:rPr>
              <a:t>Full-text / BM25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837D4-3E04-46E4-8C00-719AC971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1950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</a:defRPr>
            </a:pPr>
            <a:r>
              <a:rPr sz="1200" b="0">
                <a:solidFill>
                  <a:srgbClr val="536174"/>
                </a:solidFill>
              </a:rPr>
              <a:t>Resolve exact identifiers, error strings, and rare terms.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629D6-7CD4-4127-82EE-106B6C77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23937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3C4200-3085-4753-8D92-7CB053D4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EF5"/>
                </a:solidFill>
              </a:defRPr>
            </a:pPr>
            <a:r>
              <a:rPr sz="1050" b="1">
                <a:solidFill>
                  <a:srgbClr val="146EF5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4C899A-5F93-4EEF-850F-33F825C9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2957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</a:defRPr>
            </a:pPr>
            <a:r>
              <a:rPr sz="1425" b="1">
                <a:solidFill>
                  <a:srgbClr val="101827"/>
                </a:solidFill>
              </a:rPr>
              <a:t>Structural code graph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973090-73C3-44E5-9CF6-F893F005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14825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</a:defRPr>
            </a:pPr>
            <a:r>
              <a:rPr sz="1200" b="0">
                <a:solidFill>
                  <a:srgbClr val="536174"/>
                </a:solidFill>
              </a:rPr>
              <a:t>Trace callers, dependencies, impact radius, and paths through the system.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3874D-DF9F-4326-AE09-832F2408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23937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2AD798-793E-453F-B306-C7E66106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EF5"/>
                </a:solidFill>
              </a:defRPr>
            </a:pPr>
            <a:r>
              <a:rPr sz="1050" b="1">
                <a:solidFill>
                  <a:srgbClr val="146EF5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C93874-1755-400E-8E82-7373B618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9911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</a:defRPr>
            </a:pPr>
            <a:r>
              <a:rPr sz="1425" b="1">
                <a:solidFill>
                  <a:srgbClr val="101827"/>
                </a:solidFill>
              </a:rPr>
              <a:t>Durable memory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BBFBB9-8815-46C3-A78F-F4D69675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1015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</a:defRPr>
            </a:pPr>
            <a:r>
              <a:rPr sz="1200" b="0">
                <a:solidFill>
                  <a:srgbClr val="536174"/>
                </a:solidFill>
              </a:rPr>
              <a:t>Reuse validated learning across sessions rather than rediscovering 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046358-952E-4CCC-9978-9400FC91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74"/>
                </a:solidFill>
              </a:defRPr>
            </a:pPr>
            <a:r>
              <a:rPr sz="1050" b="0">
                <a:solidFill>
                  <a:srgbClr val="536174"/>
                </a:solidFill>
              </a:rPr>
              <a:t>Measured today: conservative retrieval-efficiency accounting. Separate estimate: bounded, clearly labeled avoided re-exploration.</a:t>
            </a:r>
          </a:p>
        </p:txBody>
      </p:sp>
    </p:spTree>
    <p:extLst>
      <p:ext uri="{BB962C8B-B14F-4D97-AF65-F5344CB8AC3E}">
        <p14:creationId xmlns:p14="http://schemas.microsoft.com/office/powerpoint/2010/main" val="9859882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D357BE-4FFB-453E-B87E-D1FB90DA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6EF5"/>
                </a:solidFill>
              </a:defRPr>
            </a:pPr>
            <a:r>
              <a:rPr sz="900" b="1">
                <a:solidFill>
                  <a:srgbClr val="146EF5"/>
                </a:solidFill>
              </a:rPr>
              <a:t>WAVEFOUNDRY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0035C-8005-4FEA-8566-0E33B1EB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174"/>
                </a:solidFill>
              </a:defRPr>
            </a:pPr>
            <a:r>
              <a:rPr sz="825" b="1">
                <a:solidFill>
                  <a:srgbClr val="536174"/>
                </a:solidFill>
              </a:rPr>
              <a:t>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583EA-4F82-4798-8177-0C7D06E8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4BCAB-EE9D-4C12-91E9-F99BBA5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174"/>
                </a:solidFill>
              </a:defRPr>
            </a:pPr>
            <a:r>
              <a:rPr sz="825" b="1">
                <a:solidFill>
                  <a:srgbClr val="536174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33ED5-8A95-45C8-A33C-ACA5B476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EF5"/>
                </a:solidFill>
              </a:defRPr>
            </a:pPr>
            <a:r>
              <a:rPr sz="975" b="1">
                <a:solidFill>
                  <a:srgbClr val="146EF5"/>
                </a:solidFill>
              </a:rPr>
              <a:t>TRUST AT SCALE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05250-FB30-42A7-A51C-DEAE38A5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7"/>
                </a:solidFill>
              </a:defRPr>
            </a:pPr>
            <a:r>
              <a:rPr sz="2925" b="1">
                <a:solidFill>
                  <a:srgbClr val="101827"/>
                </a:solidFill>
              </a:rPr>
              <a:t>Governance is designed into the delivery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313E1-33F6-4956-9465-AB3589D3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174"/>
                </a:solidFill>
              </a:defRPr>
            </a:pPr>
            <a:r>
              <a:rPr sz="1575" b="0">
                <a:solidFill>
                  <a:srgbClr val="536174"/>
                </a:solidFill>
              </a:rPr>
              <a:t>Wavefoundry turns intent into evidence and makes the record inspectable in ordinary repository files.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DB346-F0B2-4BCA-A5D1-2E4D6BA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2000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9D18E-E17F-4B94-9CC6-C7BCB00E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43275"/>
            <a:ext cx="1657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4F1CB-6A6E-4EB5-A22B-E5726B6C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8142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Rationale, scope, acceptance criteria, risks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BE9B7-B775-4C39-9879-375A7F42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86175"/>
            <a:ext cx="11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6EF5"/>
                </a:solidFill>
              </a:defRPr>
            </a:pPr>
            <a:r>
              <a:rPr sz="1500" b="1">
                <a:solidFill>
                  <a:srgbClr val="146EF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0E8BB-095C-4E02-8EBF-459CF739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95625"/>
            <a:ext cx="2000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AD558-BA94-4917-961A-A9136AF1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43275"/>
            <a:ext cx="1657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Ready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0E15D-7A72-4BB3-B212-EB93BDA9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8142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Readiness gate before implementation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3DC86-E464-425B-A26A-5B0269DF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86175"/>
            <a:ext cx="11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6EF5"/>
                </a:solidFill>
              </a:defRPr>
            </a:pPr>
            <a:r>
              <a:rPr sz="1500" b="1">
                <a:solidFill>
                  <a:srgbClr val="146EF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D5E3D-4D36-488A-8DF1-94F95F94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95625"/>
            <a:ext cx="2000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C61B12-AA12-46EE-961E-A17ACEF1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43275"/>
            <a:ext cx="1657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Implement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14C161-AC9B-46FA-B558-E7E18073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8142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Coordinated work under declared constraints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9D8B28-E413-4EB2-8EEF-3206C422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86175"/>
            <a:ext cx="11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6EF5"/>
                </a:solidFill>
              </a:defRPr>
            </a:pPr>
            <a:r>
              <a:rPr sz="1500" b="1">
                <a:solidFill>
                  <a:srgbClr val="146EF5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325FFB-5EF3-4B51-9F93-4ED28C40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95625"/>
            <a:ext cx="2000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D1C624-E0E1-4E96-9DF9-EA69C0E3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43275"/>
            <a:ext cx="1657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C52A16-EC0D-4DA9-AD65-C4B5F029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8142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Sensors + architecture, security, QA, performance, docs, 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FF600C-E728-4DEC-822E-3FAB144F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86175"/>
            <a:ext cx="11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6EF5"/>
                </a:solidFill>
              </a:defRPr>
            </a:pPr>
            <a:r>
              <a:rPr sz="1500" b="1">
                <a:solidFill>
                  <a:srgbClr val="146EF5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4FAC1E-C245-4B06-AAE6-B5E7E13C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95625"/>
            <a:ext cx="2000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46E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51AC49-8223-4012-AE14-128A3BC8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43275"/>
            <a:ext cx="1657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Close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CA1ADD-07FD-4DE9-B3C6-5BAD34BC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8142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Required signoffs and operator-approved closure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83D878-DF49-49CC-BB06-9E3DD7DF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74"/>
                </a:solidFill>
              </a:defRPr>
            </a:pPr>
            <a:r>
              <a:rPr sz="1050" b="0">
                <a:solidFill>
                  <a:srgbClr val="536174"/>
                </a:solidFill>
              </a:rPr>
              <a:t>A closed wave answers: what changed, why, what was checked, what was accepted, and what risk remains.</a:t>
            </a:r>
          </a:p>
        </p:txBody>
      </p:sp>
    </p:spTree>
    <p:extLst>
      <p:ext uri="{BB962C8B-B14F-4D97-AF65-F5344CB8AC3E}">
        <p14:creationId xmlns:p14="http://schemas.microsoft.com/office/powerpoint/2010/main" val="19863784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1C93B9-AF02-4A21-83F7-C9469224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6EF5"/>
                </a:solidFill>
              </a:defRPr>
            </a:pPr>
            <a:r>
              <a:rPr sz="900" b="1">
                <a:solidFill>
                  <a:srgbClr val="146EF5"/>
                </a:solidFill>
              </a:rPr>
              <a:t>WAVEFOUNDRY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1A6BE-9584-43A9-BB9C-ACB19209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174"/>
                </a:solidFill>
              </a:defRPr>
            </a:pPr>
            <a:r>
              <a:rPr sz="825" b="1">
                <a:solidFill>
                  <a:srgbClr val="536174"/>
                </a:solidFill>
              </a:rPr>
              <a:t>ADOPTION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C4D94-8848-4184-9C31-8E042709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0F374-EA99-44C4-B42C-B311E267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174"/>
                </a:solidFill>
              </a:defRPr>
            </a:pPr>
            <a:r>
              <a:rPr sz="825" b="1">
                <a:solidFill>
                  <a:srgbClr val="536174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BCD6F-64A9-4EA8-961C-2BA00579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EF5"/>
                </a:solidFill>
              </a:defRPr>
            </a:pPr>
            <a:r>
              <a:rPr sz="975" b="1">
                <a:solidFill>
                  <a:srgbClr val="146EF5"/>
                </a:solidFill>
              </a:rPr>
              <a:t>ADOPTION THESIS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95885-BE2B-47CB-96D6-54A549BA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7"/>
                </a:solidFill>
              </a:defRPr>
            </a:pPr>
            <a:r>
              <a:rPr sz="2925" b="1">
                <a:solidFill>
                  <a:srgbClr val="101827"/>
                </a:solidFill>
              </a:rPr>
              <a:t>Start where AI delivery needs the most trust—and measure the delta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2CD50-249A-4E36-83BC-3D565398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174"/>
                </a:solidFill>
              </a:defRPr>
            </a:pPr>
            <a:r>
              <a:rPr sz="1575" b="0">
                <a:solidFill>
                  <a:srgbClr val="536174"/>
                </a:solidFill>
              </a:rPr>
              <a:t>Begin with high-value, high-governance workflows. Prove the operating model before expanding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54A3F-BC03-4405-9CDB-16199487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191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29B71-AFE1-4F1D-B54D-F1387D27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</a:defRPr>
            </a:pPr>
            <a:r>
              <a:rPr sz="1425" b="1">
                <a:solidFill>
                  <a:srgbClr val="101827"/>
                </a:solidFill>
              </a:rPr>
              <a:t>1. Select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F7956-9F8C-4924-8996-6567C1EA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48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</a:defRPr>
            </a:pPr>
            <a:r>
              <a:rPr sz="1200" b="0">
                <a:solidFill>
                  <a:srgbClr val="536174"/>
                </a:solidFill>
              </a:rPr>
              <a:t>Choose a change class where quality, security, or continuity matter.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BEA74-D6AE-4195-A714-08ADB2A3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191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46E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B851B-D29A-4E09-9559-BD3116BD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</a:defRPr>
            </a:pPr>
            <a:r>
              <a:rPr sz="1425" b="1">
                <a:solidFill>
                  <a:srgbClr val="101827"/>
                </a:solidFill>
              </a:rPr>
              <a:t>2. Instrument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A6645-1BDA-4D9B-A3EC-65B57F0D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052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</a:defRPr>
            </a:pPr>
            <a:r>
              <a:rPr sz="1200" b="0">
                <a:solidFill>
                  <a:srgbClr val="536174"/>
                </a:solidFill>
              </a:rPr>
              <a:t>Establish baseline measures and use Wavefoundry’s delivery record.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E4BD8-ABFC-4482-9C90-3490B0E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191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016FC-6356-4DB9-AE58-3AFCFB0F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434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</a:defRPr>
            </a:pPr>
            <a:r>
              <a:rPr sz="1425" b="1">
                <a:solidFill>
                  <a:srgbClr val="101827"/>
                </a:solidFill>
              </a:rPr>
              <a:t>3. Expand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66EC6A-908E-4176-BB24-03713855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625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</a:defRPr>
            </a:pPr>
            <a:r>
              <a:rPr sz="1200" b="0">
                <a:solidFill>
                  <a:srgbClr val="536174"/>
                </a:solidFill>
              </a:rPr>
              <a:t>Compare outcomes, refine controls, then scale to adjacent workflows.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5BC8A-F2BE-44C6-94A1-046FBD7C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Wavefoundry does not try to replace engineering judgment. It makes AI-assisted delivery easier to trust, easier to govern, and easier to improve.</a:t>
            </a:r>
          </a:p>
        </p:txBody>
      </p:sp>
    </p:spTree>
    <p:extLst>
      <p:ext uri="{BB962C8B-B14F-4D97-AF65-F5344CB8AC3E}">
        <p14:creationId xmlns:p14="http://schemas.microsoft.com/office/powerpoint/2010/main" val="1870100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2026-08-13T02:33:26.3550000Z</dcterms:created>
  <dcterms:modified xsi:type="dcterms:W3CDTF">2026-08-13T02:33:26.3550000Z</dcterms:modified>
</coreProperties>
</file>